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Sora Medium"/>
      <p:regular r:id="rId18"/>
    </p:embeddedFont>
    <p:embeddedFont>
      <p:font typeface="Sora Medium"/>
      <p:regular r:id="rId19"/>
    </p:embeddedFont>
    <p:embeddedFont>
      <p:font typeface="Noto Sans TC"/>
      <p:regular r:id="rId20"/>
    </p:embeddedFont>
    <p:embeddedFont>
      <p:font typeface="Noto Sans TC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End-to-End Stock Forecasting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AI-powered stock prediction platform combining LSTM neural networks, ARIMA time-series analysis, and Ollama integration for intelligent financial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9003"/>
            <a:ext cx="5949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Pipeline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31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Real-time fetching and processing of 5 years of stock data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ML Models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67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ARIMA and LSTM predictions with dynamic scaling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Streamlit Frontend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Interactive interface with AI chatbot integration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59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Pipeline: Backend ML Workflow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1052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Financial Data Acquisition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4599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Yahoo Finance API integration via yfinance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5109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Dynamic downloads for 30+ Indian MNCs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75619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years historical data per company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56129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static CSV files stored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210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79166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MinMaxScaler normalization at runtime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459676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60-day sequence length for LSTM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40186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Automatic missing value handling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20696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saved scaler files (.pkl)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5538"/>
            <a:ext cx="85319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Dual Model Prediction Engine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7945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2626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2834759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70" y="2983587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7420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ARIMA (5,1,0)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232434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Time-series forecasting model analyzing Close prices with statistical precision for trend prediction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607945"/>
            <a:ext cx="6408063" cy="2940010"/>
          </a:xfrm>
          <a:prstGeom prst="roundRect">
            <a:avLst>
              <a:gd name="adj" fmla="val 1157"/>
            </a:avLst>
          </a:prstGeom>
          <a:solidFill>
            <a:srgbClr val="26262B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2" y="2834759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528" y="2983587"/>
            <a:ext cx="306110" cy="3826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5362" y="3742015"/>
            <a:ext cx="31272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LSTM Neural Network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5362" y="4232434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Pre-trained deep learning model (lstm_stock_model.keras) capturing complex patterns in sequential data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58031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Forecast horizon dynamically calculated: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Selected Future Date - Last Available Date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93790" y="64211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All predictions computed in memory with no intermediate model files saved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319" y="2978587"/>
            <a:ext cx="4957763" cy="22723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0093" y="924758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Journey: Authentication to Insights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977979" y="2563773"/>
            <a:ext cx="22860" cy="4741069"/>
          </a:xfrm>
          <a:prstGeom prst="roundRect">
            <a:avLst>
              <a:gd name="adj" fmla="val 138766"/>
            </a:avLst>
          </a:prstGeom>
          <a:solidFill>
            <a:srgbClr val="3F3F44"/>
          </a:solidFill>
          <a:ln/>
        </p:spPr>
      </p:sp>
      <p:sp>
        <p:nvSpPr>
          <p:cNvPr id="6" name="Shape 2"/>
          <p:cNvSpPr/>
          <p:nvPr/>
        </p:nvSpPr>
        <p:spPr>
          <a:xfrm>
            <a:off x="1193006" y="2790230"/>
            <a:ext cx="634365" cy="22860"/>
          </a:xfrm>
          <a:prstGeom prst="roundRect">
            <a:avLst>
              <a:gd name="adj" fmla="val 138766"/>
            </a:avLst>
          </a:prstGeom>
          <a:solidFill>
            <a:srgbClr val="3F3F44"/>
          </a:solidFill>
          <a:ln/>
        </p:spPr>
      </p:sp>
      <p:sp>
        <p:nvSpPr>
          <p:cNvPr id="7" name="Shape 3"/>
          <p:cNvSpPr/>
          <p:nvPr/>
        </p:nvSpPr>
        <p:spPr>
          <a:xfrm>
            <a:off x="740093" y="2563773"/>
            <a:ext cx="475774" cy="475774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8" name="Text 4"/>
          <p:cNvSpPr/>
          <p:nvPr/>
        </p:nvSpPr>
        <p:spPr>
          <a:xfrm>
            <a:off x="819388" y="2603421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2035373" y="2636401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Login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2035373" y="3093601"/>
            <a:ext cx="6368534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Secure authentication (saurabh/12345 or admin/admin123)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1193006" y="4081224"/>
            <a:ext cx="634365" cy="22860"/>
          </a:xfrm>
          <a:prstGeom prst="roundRect">
            <a:avLst>
              <a:gd name="adj" fmla="val 138766"/>
            </a:avLst>
          </a:prstGeom>
          <a:solidFill>
            <a:srgbClr val="3F3F44"/>
          </a:solidFill>
          <a:ln/>
        </p:spPr>
      </p:sp>
      <p:sp>
        <p:nvSpPr>
          <p:cNvPr id="12" name="Shape 8"/>
          <p:cNvSpPr/>
          <p:nvPr/>
        </p:nvSpPr>
        <p:spPr>
          <a:xfrm>
            <a:off x="740093" y="3854768"/>
            <a:ext cx="475774" cy="475774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3" name="Text 9"/>
          <p:cNvSpPr/>
          <p:nvPr/>
        </p:nvSpPr>
        <p:spPr>
          <a:xfrm>
            <a:off x="819388" y="3894415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4" name="Text 10"/>
          <p:cNvSpPr/>
          <p:nvPr/>
        </p:nvSpPr>
        <p:spPr>
          <a:xfrm>
            <a:off x="2035373" y="3927396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Select Company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2035373" y="4384596"/>
            <a:ext cx="6368534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Choose from 30+ MNCs like TCS, Infosys, Reliance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1193006" y="5372219"/>
            <a:ext cx="634365" cy="22860"/>
          </a:xfrm>
          <a:prstGeom prst="roundRect">
            <a:avLst>
              <a:gd name="adj" fmla="val 138766"/>
            </a:avLst>
          </a:prstGeom>
          <a:solidFill>
            <a:srgbClr val="3F3F44"/>
          </a:solidFill>
          <a:ln/>
        </p:spPr>
      </p:sp>
      <p:sp>
        <p:nvSpPr>
          <p:cNvPr id="17" name="Shape 13"/>
          <p:cNvSpPr/>
          <p:nvPr/>
        </p:nvSpPr>
        <p:spPr>
          <a:xfrm>
            <a:off x="740093" y="5145762"/>
            <a:ext cx="475774" cy="475774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8" name="Text 14"/>
          <p:cNvSpPr/>
          <p:nvPr/>
        </p:nvSpPr>
        <p:spPr>
          <a:xfrm>
            <a:off x="819388" y="5185410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5"/>
          <p:cNvSpPr/>
          <p:nvPr/>
        </p:nvSpPr>
        <p:spPr>
          <a:xfrm>
            <a:off x="2035373" y="5218390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Choose AI Model</a:t>
            </a:r>
            <a:endParaRPr lang="en-US" sz="2050" dirty="0"/>
          </a:p>
        </p:txBody>
      </p:sp>
      <p:sp>
        <p:nvSpPr>
          <p:cNvPr id="20" name="Text 16"/>
          <p:cNvSpPr/>
          <p:nvPr/>
        </p:nvSpPr>
        <p:spPr>
          <a:xfrm>
            <a:off x="2035373" y="5675590"/>
            <a:ext cx="6368534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Pick Ollama model: gemma3:4b, mistral, llama2, or None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1193006" y="6663214"/>
            <a:ext cx="634365" cy="22860"/>
          </a:xfrm>
          <a:prstGeom prst="roundRect">
            <a:avLst>
              <a:gd name="adj" fmla="val 138766"/>
            </a:avLst>
          </a:prstGeom>
          <a:solidFill>
            <a:srgbClr val="3F3F44"/>
          </a:solidFill>
          <a:ln/>
        </p:spPr>
      </p:sp>
      <p:sp>
        <p:nvSpPr>
          <p:cNvPr id="22" name="Shape 18"/>
          <p:cNvSpPr/>
          <p:nvPr/>
        </p:nvSpPr>
        <p:spPr>
          <a:xfrm>
            <a:off x="740093" y="6436757"/>
            <a:ext cx="475774" cy="475774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23" name="Text 19"/>
          <p:cNvSpPr/>
          <p:nvPr/>
        </p:nvSpPr>
        <p:spPr>
          <a:xfrm>
            <a:off x="819388" y="6476405"/>
            <a:ext cx="317183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4" name="Text 20"/>
          <p:cNvSpPr/>
          <p:nvPr/>
        </p:nvSpPr>
        <p:spPr>
          <a:xfrm>
            <a:off x="2035373" y="6509385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Set Prediction Date</a:t>
            </a:r>
            <a:endParaRPr lang="en-US" sz="2050" dirty="0"/>
          </a:p>
        </p:txBody>
      </p:sp>
      <p:sp>
        <p:nvSpPr>
          <p:cNvPr id="25" name="Text 21"/>
          <p:cNvSpPr/>
          <p:nvPr/>
        </p:nvSpPr>
        <p:spPr>
          <a:xfrm>
            <a:off x="2035373" y="6966585"/>
            <a:ext cx="6368534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Select future date for forecast horizon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07" y="2492335"/>
            <a:ext cx="4919186" cy="32448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746052"/>
            <a:ext cx="7511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Flexible Prediction Modes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794992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24270" y="2825472"/>
            <a:ext cx="907256" cy="1669852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58" y="3447693"/>
            <a:ext cx="340162" cy="4252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8340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Single Model Mode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958340" y="3542705"/>
            <a:ext cx="63613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Choose ARIMA or LSTM for individual predictions with focused analysis and detailed metrics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793790" y="4752618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24270" y="4783098"/>
            <a:ext cx="907256" cy="1669852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58" y="5405318"/>
            <a:ext cx="340162" cy="4252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8340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Comparison Mode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958340" y="5500330"/>
            <a:ext cx="63613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Run both models simultaneously with side-by-side results, tables, % change, trend direction, and interactive charts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8742"/>
            <a:ext cx="92474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Advanced Visualization Options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Predictions Only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Clean forecast display without additional visual elements for focused decision-making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48114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Moving Averages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 10 &amp; SMA 50 overlaid with closing prices to identify trends and momentum shifts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48114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31613"/>
            <a:ext cx="3048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Correlation Heatmap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 matrix showing relationships between Open, High, Low, Close, and Volume metrics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528"/>
            <a:ext cx="86979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Ollama AI Chatbot Integration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9282"/>
            <a:ext cx="42670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Intelligent Financial Assistant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1042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Interactive chatbot powered by local Ollama API understands company names, dates, and complex queries automatically.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4030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Key Capabilities: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0728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Combines historical prices with ARIMA &amp; LSTM predictions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4947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Generates AI-driven financial insights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9167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Context-aware responses using selected model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3387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Real-time analysis and recommendations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857619"/>
            <a:ext cx="4885015" cy="31821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1" y="2366724"/>
            <a:ext cx="4960739" cy="349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22325" y="745688"/>
            <a:ext cx="7672149" cy="131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Outputs &amp; Deliverables</a:t>
            </a:r>
            <a:endParaRPr lang="en-US" sz="4100" dirty="0"/>
          </a:p>
        </p:txBody>
      </p:sp>
      <p:sp>
        <p:nvSpPr>
          <p:cNvPr id="5" name="Shape 1"/>
          <p:cNvSpPr/>
          <p:nvPr/>
        </p:nvSpPr>
        <p:spPr>
          <a:xfrm>
            <a:off x="6222325" y="2375059"/>
            <a:ext cx="3730943" cy="1884283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6" name="Text 2"/>
          <p:cNvSpPr/>
          <p:nvPr/>
        </p:nvSpPr>
        <p:spPr>
          <a:xfrm>
            <a:off x="6432590" y="2585323"/>
            <a:ext cx="278415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Dynamic Predictions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432590" y="3040023"/>
            <a:ext cx="3310414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Predicted closing price, trend direction, and percentage change calculated in real-time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10163532" y="2375059"/>
            <a:ext cx="3730943" cy="1884283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9" name="Text 5"/>
          <p:cNvSpPr/>
          <p:nvPr/>
        </p:nvSpPr>
        <p:spPr>
          <a:xfrm>
            <a:off x="10373797" y="2585323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Interactive Charts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10373797" y="3040023"/>
            <a:ext cx="3310414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 comparisons for ARIMA, LSTM, and dual-model analysis modes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222325" y="4469606"/>
            <a:ext cx="7672149" cy="154793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2" name="Text 8"/>
          <p:cNvSpPr/>
          <p:nvPr/>
        </p:nvSpPr>
        <p:spPr>
          <a:xfrm>
            <a:off x="6432590" y="4679871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Insights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6432590" y="5134570"/>
            <a:ext cx="7251621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Generated financial commentary and chatbot responses for informed decisions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222325" y="6253996"/>
            <a:ext cx="7672149" cy="1229797"/>
          </a:xfrm>
          <a:prstGeom prst="roundRect">
            <a:avLst>
              <a:gd name="adj" fmla="val 2565"/>
            </a:avLst>
          </a:prstGeom>
          <a:solidFill>
            <a:srgbClr val="0018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90" y="6591776"/>
            <a:ext cx="262771" cy="2102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5625" y="6516767"/>
            <a:ext cx="6778585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Zero File Storage: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All predictions, charts, and tables generated dynamically in Streamlit with no intermediate .csv or .pkl files stored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5507"/>
            <a:ext cx="69512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Technical Requirements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444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2869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322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Required Files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81273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ollama.py and lstm_stock_model.keras must be present in directory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9921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40346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070033"/>
            <a:ext cx="2899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Runtime Processing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5604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All scaling, normalization, and predictions computed in memory without persistent storage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398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57823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8177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API Dependencies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081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Yahoo Finance API for data, local Ollama API for AI chatbot functionality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760351"/>
            <a:ext cx="6597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                           Thank 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2025-10-09T04:10:06Z</dcterms:created>
  <dcterms:modified xsi:type="dcterms:W3CDTF">2025-10-09T04:10:06Z</dcterms:modified>
</cp:coreProperties>
</file>